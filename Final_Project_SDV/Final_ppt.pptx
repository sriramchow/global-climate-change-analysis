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04dc9771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404dc9771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4a2776375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4a2776375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404dc9771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404dc97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04dc97711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404dc9771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404dc97711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04dc9771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404dc97711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404dc9771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404dc97711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404dc97711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404dc97711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404dc97711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404dc97711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404dc97711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404dc97711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404dc97711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404dc97711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404dc97711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berkeleyearth/climate-change-earth-surface-temperature-data"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000"/>
              <a:t>Understanding Global Climate Change: Exploring Socio-Economic Factors and Environmental Effects</a:t>
            </a:r>
            <a:endParaRPr sz="4000"/>
          </a:p>
        </p:txBody>
      </p:sp>
      <p:sp>
        <p:nvSpPr>
          <p:cNvPr id="55" name="Google Shape;55;p13"/>
          <p:cNvSpPr txBox="1">
            <a:spLocks noGrp="1"/>
          </p:cNvSpPr>
          <p:nvPr>
            <p:ph type="subTitle" idx="1"/>
          </p:nvPr>
        </p:nvSpPr>
        <p:spPr>
          <a:xfrm>
            <a:off x="311700" y="3033950"/>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dirty="0"/>
              <a:t>Team Members: Srihith Reddy Gaddam, Sriram Chowdary Vundavalli, Sri Durga Viswa Challagali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b="1"/>
              <a:t>Domain: </a:t>
            </a:r>
            <a:r>
              <a:rPr lang="en"/>
              <a:t>Climate Science &amp; Socio-Economic Analysis</a:t>
            </a:r>
            <a:endParaRPr/>
          </a:p>
          <a:p>
            <a:pPr marL="0" lvl="0" indent="0" algn="l" rtl="0">
              <a:spcBef>
                <a:spcPts val="1200"/>
              </a:spcBef>
              <a:spcAft>
                <a:spcPts val="0"/>
              </a:spcAft>
              <a:buNone/>
            </a:pPr>
            <a:r>
              <a:rPr lang="en" b="1"/>
              <a:t>Objective: </a:t>
            </a:r>
            <a:r>
              <a:rPr lang="en"/>
              <a:t>Analyze global temperature trends and correlate them with geographic/socio-economic factors.</a:t>
            </a:r>
            <a:endParaRPr/>
          </a:p>
          <a:p>
            <a:pPr marL="0" lvl="0" indent="0" algn="l" rtl="0">
              <a:spcBef>
                <a:spcPts val="1200"/>
              </a:spcBef>
              <a:spcAft>
                <a:spcPts val="0"/>
              </a:spcAft>
              <a:buNone/>
            </a:pPr>
            <a:r>
              <a:rPr lang="en" b="1"/>
              <a:t>Global Challenge:</a:t>
            </a:r>
            <a:r>
              <a:rPr lang="en"/>
              <a:t> Rising temperatures linked to human activity (CO₂ emissions, GDP growth).</a:t>
            </a:r>
            <a:endParaRPr/>
          </a:p>
          <a:p>
            <a:pPr marL="0" lvl="0" indent="0" algn="l" rtl="0">
              <a:spcBef>
                <a:spcPts val="1200"/>
              </a:spcBef>
              <a:spcAft>
                <a:spcPts val="0"/>
              </a:spcAft>
              <a:buNone/>
            </a:pPr>
            <a:r>
              <a:rPr lang="en" b="1"/>
              <a:t>Focus of Project 1:</a:t>
            </a:r>
            <a:endParaRPr b="1"/>
          </a:p>
          <a:p>
            <a:pPr marL="457200" lvl="0" indent="-342900" algn="l" rtl="0">
              <a:spcBef>
                <a:spcPts val="1200"/>
              </a:spcBef>
              <a:spcAft>
                <a:spcPts val="0"/>
              </a:spcAft>
              <a:buSzPts val="1800"/>
              <a:buAutoNum type="arabicPeriod"/>
            </a:pPr>
            <a:r>
              <a:rPr lang="en"/>
              <a:t>Visualize temperature trends (land/ocean).</a:t>
            </a:r>
            <a:endParaRPr/>
          </a:p>
          <a:p>
            <a:pPr marL="457200" lvl="0" indent="-342900" algn="l" rtl="0">
              <a:spcBef>
                <a:spcPts val="1000"/>
              </a:spcBef>
              <a:spcAft>
                <a:spcPts val="0"/>
              </a:spcAft>
              <a:buSzPts val="1800"/>
              <a:buAutoNum type="arabicPeriod"/>
            </a:pPr>
            <a:r>
              <a:rPr lang="en"/>
              <a:t>Identify hottest/coldest regions (Top 10 lists).</a:t>
            </a:r>
            <a:endParaRPr/>
          </a:p>
          <a:p>
            <a:pPr marL="457200" lvl="0" indent="-342900" algn="l" rtl="0">
              <a:spcBef>
                <a:spcPts val="1000"/>
              </a:spcBef>
              <a:spcAft>
                <a:spcPts val="1000"/>
              </a:spcAft>
              <a:buSzPts val="1800"/>
              <a:buAutoNum type="arabicPeriod"/>
            </a:pPr>
            <a:r>
              <a:rPr lang="en"/>
              <a:t>Lay groundwork for socio-economic integration in Project 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 Statement</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10000"/>
          </a:bodyPr>
          <a:lstStyle/>
          <a:p>
            <a:pPr marL="457200" lvl="0" indent="-317182" algn="l" rtl="0">
              <a:spcBef>
                <a:spcPts val="0"/>
              </a:spcBef>
              <a:spcAft>
                <a:spcPts val="0"/>
              </a:spcAft>
              <a:buSzPct val="100000"/>
              <a:buChar char="●"/>
            </a:pPr>
            <a:r>
              <a:rPr lang="en"/>
              <a:t>Context:</a:t>
            </a:r>
            <a:endParaRPr/>
          </a:p>
          <a:p>
            <a:pPr marL="914400" lvl="1" indent="-297497" algn="l" rtl="0">
              <a:spcBef>
                <a:spcPts val="0"/>
              </a:spcBef>
              <a:spcAft>
                <a:spcPts val="0"/>
              </a:spcAft>
              <a:buSzPct val="100000"/>
              <a:buChar char="○"/>
            </a:pPr>
            <a:r>
              <a:rPr lang="en"/>
              <a:t>Global temperatures have risen by ~1.1°C since the pre-industrial era, with profound impacts on ecosystems, economies, and human health. While climate change is a well-documented phenomenon, regional disparities in temperature trends and their links to socio-economic factors remain under-explored in public discourse.</a:t>
            </a:r>
            <a:endParaRPr/>
          </a:p>
          <a:p>
            <a:pPr marL="457200" lvl="0" indent="-317182" algn="l" rtl="0">
              <a:spcBef>
                <a:spcPts val="0"/>
              </a:spcBef>
              <a:spcAft>
                <a:spcPts val="0"/>
              </a:spcAft>
              <a:buSzPct val="100000"/>
              <a:buChar char="●"/>
            </a:pPr>
            <a:r>
              <a:rPr lang="en"/>
              <a:t>Problem Gap:</a:t>
            </a:r>
            <a:endParaRPr/>
          </a:p>
          <a:p>
            <a:pPr marL="914400" lvl="1" indent="-297497" algn="l" rtl="0">
              <a:spcBef>
                <a:spcPts val="0"/>
              </a:spcBef>
              <a:spcAft>
                <a:spcPts val="0"/>
              </a:spcAft>
              <a:buSzPct val="100000"/>
              <a:buChar char="○"/>
            </a:pPr>
            <a:r>
              <a:rPr lang="en"/>
              <a:t>Existing temperature datasets are often:</a:t>
            </a:r>
            <a:endParaRPr/>
          </a:p>
          <a:p>
            <a:pPr marL="1371600" lvl="2" indent="-297497" algn="l" rtl="0">
              <a:spcBef>
                <a:spcPts val="0"/>
              </a:spcBef>
              <a:spcAft>
                <a:spcPts val="0"/>
              </a:spcAft>
              <a:buSzPct val="100000"/>
              <a:buChar char="■"/>
            </a:pPr>
            <a:r>
              <a:rPr lang="en"/>
              <a:t>Static or non-interactive, limiting public engagement.</a:t>
            </a:r>
            <a:endParaRPr/>
          </a:p>
          <a:p>
            <a:pPr marL="1371600" lvl="2" indent="-297497" algn="l" rtl="0">
              <a:spcBef>
                <a:spcPts val="0"/>
              </a:spcBef>
              <a:spcAft>
                <a:spcPts val="0"/>
              </a:spcAft>
              <a:buSzPct val="100000"/>
              <a:buChar char="■"/>
            </a:pPr>
            <a:r>
              <a:rPr lang="en"/>
              <a:t>Disconnected from socio-economic drivers (e.g., CO₂ emissions, GDP).</a:t>
            </a:r>
            <a:endParaRPr/>
          </a:p>
          <a:p>
            <a:pPr marL="1371600" lvl="2" indent="-297497" algn="l" rtl="0">
              <a:spcBef>
                <a:spcPts val="0"/>
              </a:spcBef>
              <a:spcAft>
                <a:spcPts val="0"/>
              </a:spcAft>
              <a:buSzPct val="100000"/>
              <a:buChar char="■"/>
            </a:pPr>
            <a:r>
              <a:rPr lang="en"/>
              <a:t>Focused on aggregates, masking critical regional extremes (e.g., Arctic amplification, urban heat islands).</a:t>
            </a:r>
            <a:endParaRPr/>
          </a:p>
          <a:p>
            <a:pPr marL="457200" lvl="0" indent="-317182" algn="l" rtl="0">
              <a:spcBef>
                <a:spcPts val="0"/>
              </a:spcBef>
              <a:spcAft>
                <a:spcPts val="0"/>
              </a:spcAft>
              <a:buSzPct val="100000"/>
              <a:buChar char="●"/>
            </a:pPr>
            <a:r>
              <a:rPr lang="en"/>
              <a:t>Our Focus:</a:t>
            </a:r>
            <a:endParaRPr/>
          </a:p>
          <a:p>
            <a:pPr marL="914400" lvl="1" indent="-297497" algn="l" rtl="0">
              <a:spcBef>
                <a:spcPts val="0"/>
              </a:spcBef>
              <a:spcAft>
                <a:spcPts val="0"/>
              </a:spcAft>
              <a:buSzPct val="100000"/>
              <a:buChar char="○"/>
            </a:pPr>
            <a:r>
              <a:rPr lang="en"/>
              <a:t>Project 1 addresses these gaps by:</a:t>
            </a:r>
            <a:endParaRPr/>
          </a:p>
          <a:p>
            <a:pPr marL="1371600" lvl="2" indent="-297497" algn="l" rtl="0">
              <a:spcBef>
                <a:spcPts val="0"/>
              </a:spcBef>
              <a:spcAft>
                <a:spcPts val="0"/>
              </a:spcAft>
              <a:buSzPct val="100000"/>
              <a:buChar char="■"/>
            </a:pPr>
            <a:r>
              <a:rPr lang="en"/>
              <a:t>Mapping spatial/temporal trends (2000–2015) to identify "hotspots" and "coldspots."</a:t>
            </a:r>
            <a:endParaRPr/>
          </a:p>
          <a:p>
            <a:pPr marL="1371600" lvl="2" indent="-297497" algn="l" rtl="0">
              <a:spcBef>
                <a:spcPts val="0"/>
              </a:spcBef>
              <a:spcAft>
                <a:spcPts val="0"/>
              </a:spcAft>
              <a:buSzPct val="100000"/>
              <a:buChar char="■"/>
            </a:pPr>
            <a:r>
              <a:rPr lang="en"/>
              <a:t>Highlighting anomalies (e.g., why Mali is 5°C hotter than global averages).</a:t>
            </a:r>
            <a:endParaRPr/>
          </a:p>
          <a:p>
            <a:pPr marL="914400" lvl="1" indent="-297497" algn="l" rtl="0">
              <a:spcBef>
                <a:spcPts val="0"/>
              </a:spcBef>
              <a:spcAft>
                <a:spcPts val="0"/>
              </a:spcAft>
              <a:buSzPct val="100000"/>
              <a:buChar char="○"/>
            </a:pPr>
            <a:r>
              <a:rPr lang="en"/>
              <a:t>Laying groundwork for Project 2’s integration of human activity data (CO₂, GDP).</a:t>
            </a:r>
            <a:endParaRPr/>
          </a:p>
          <a:p>
            <a:pPr marL="457200" lvl="0" indent="-317182" algn="l" rtl="0">
              <a:spcBef>
                <a:spcPts val="0"/>
              </a:spcBef>
              <a:spcAft>
                <a:spcPts val="0"/>
              </a:spcAft>
              <a:buSzPct val="100000"/>
              <a:buChar char="●"/>
            </a:pPr>
            <a:r>
              <a:rPr lang="en"/>
              <a:t>Why It Matters:</a:t>
            </a:r>
            <a:endParaRPr/>
          </a:p>
          <a:p>
            <a:pPr marL="914400" lvl="1" indent="-297497" algn="l" rtl="0">
              <a:spcBef>
                <a:spcPts val="0"/>
              </a:spcBef>
              <a:spcAft>
                <a:spcPts val="0"/>
              </a:spcAft>
              <a:buSzPct val="100000"/>
              <a:buChar char="○"/>
            </a:pPr>
            <a:r>
              <a:rPr lang="en"/>
              <a:t>Policymakers need granular visuals to prioritize mitigation.</a:t>
            </a:r>
            <a:endParaRPr/>
          </a:p>
          <a:p>
            <a:pPr marL="914400" lvl="1" indent="-297497" algn="l" rtl="0">
              <a:spcBef>
                <a:spcPts val="0"/>
              </a:spcBef>
              <a:spcAft>
                <a:spcPts val="0"/>
              </a:spcAft>
              <a:buSzPct val="100000"/>
              <a:buChar char="○"/>
            </a:pPr>
            <a:r>
              <a:rPr lang="en"/>
              <a:t>Public needs accessible storytelling to understand climate urgency.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Methodology</a:t>
            </a:r>
            <a:endParaRPr/>
          </a:p>
        </p:txBody>
      </p:sp>
      <p:sp>
        <p:nvSpPr>
          <p:cNvPr id="73" name="Google Shape;73;p16"/>
          <p:cNvSpPr txBox="1">
            <a:spLocks noGrp="1"/>
          </p:cNvSpPr>
          <p:nvPr>
            <p:ph type="body" idx="1"/>
          </p:nvPr>
        </p:nvSpPr>
        <p:spPr>
          <a:xfrm>
            <a:off x="311700" y="1152475"/>
            <a:ext cx="8520600" cy="37545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a:t>Flow Diagram</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457200" lvl="0" indent="-317182" algn="l" rtl="0">
              <a:spcBef>
                <a:spcPts val="1000"/>
              </a:spcBef>
              <a:spcAft>
                <a:spcPts val="0"/>
              </a:spcAft>
              <a:buSzPct val="100000"/>
              <a:buChar char="●"/>
            </a:pPr>
            <a:r>
              <a:rPr lang="en"/>
              <a:t>Data Collection: Berkeley Earth (Kaggle) → Cleaned in Tableau.</a:t>
            </a:r>
            <a:endParaRPr/>
          </a:p>
          <a:p>
            <a:pPr marL="457200" lvl="0" indent="-317182" algn="l" rtl="0">
              <a:spcBef>
                <a:spcPts val="1000"/>
              </a:spcBef>
              <a:spcAft>
                <a:spcPts val="0"/>
              </a:spcAft>
              <a:buSzPct val="100000"/>
              <a:buChar char="●"/>
            </a:pPr>
            <a:r>
              <a:rPr lang="en"/>
              <a:t>Data Transformation: Handled missing values, aggregated by year/country.</a:t>
            </a:r>
            <a:endParaRPr/>
          </a:p>
          <a:p>
            <a:pPr marL="457200" lvl="0" indent="-317182" algn="l" rtl="0">
              <a:spcBef>
                <a:spcPts val="1000"/>
              </a:spcBef>
              <a:spcAft>
                <a:spcPts val="0"/>
              </a:spcAft>
              <a:buSzPct val="100000"/>
              <a:buChar char="●"/>
            </a:pPr>
            <a:r>
              <a:rPr lang="en"/>
              <a:t>Visualization: Created maps, bar charts, and time-series plots.</a:t>
            </a:r>
            <a:endParaRPr/>
          </a:p>
          <a:p>
            <a:pPr marL="457200" lvl="0" indent="-317182" algn="l" rtl="0">
              <a:spcBef>
                <a:spcPts val="1000"/>
              </a:spcBef>
              <a:spcAft>
                <a:spcPts val="0"/>
              </a:spcAft>
              <a:buSzPct val="100000"/>
              <a:buChar char="●"/>
            </a:pPr>
            <a:r>
              <a:rPr lang="en"/>
              <a:t>Analysis: Extracted top 10 hottest/coldest regions and trends.</a:t>
            </a:r>
            <a:endParaRPr/>
          </a:p>
          <a:p>
            <a:pPr marL="0" lvl="0" indent="0" algn="l" rtl="0">
              <a:spcBef>
                <a:spcPts val="1000"/>
              </a:spcBef>
              <a:spcAft>
                <a:spcPts val="0"/>
              </a:spcAft>
              <a:buNone/>
            </a:pPr>
            <a:endParaRPr/>
          </a:p>
          <a:p>
            <a:pPr marL="0" lvl="0" indent="0" algn="l" rtl="0">
              <a:spcBef>
                <a:spcPts val="1000"/>
              </a:spcBef>
              <a:spcAft>
                <a:spcPts val="0"/>
              </a:spcAft>
              <a:buNone/>
            </a:pPr>
            <a:r>
              <a:rPr lang="en"/>
              <a:t>Tools: Tableau (Primary).</a:t>
            </a:r>
            <a:endParaRPr/>
          </a:p>
          <a:p>
            <a:pPr marL="457200" lvl="0" indent="0" algn="l" rtl="0">
              <a:spcBef>
                <a:spcPts val="1000"/>
              </a:spcBef>
              <a:spcAft>
                <a:spcPts val="1000"/>
              </a:spcAft>
              <a:buNone/>
            </a:pPr>
            <a:endParaRPr/>
          </a:p>
        </p:txBody>
      </p:sp>
      <p:pic>
        <p:nvPicPr>
          <p:cNvPr id="74" name="Google Shape;74;p16" title="methodology.png"/>
          <p:cNvPicPr preferRelativeResize="0"/>
          <p:nvPr/>
        </p:nvPicPr>
        <p:blipFill>
          <a:blip r:embed="rId3">
            <a:alphaModFix/>
          </a:blip>
          <a:stretch>
            <a:fillRect/>
          </a:stretch>
        </p:blipFill>
        <p:spPr>
          <a:xfrm>
            <a:off x="1162713" y="1609713"/>
            <a:ext cx="6581775" cy="962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Abstraction</a:t>
            </a:r>
            <a:endParaRPr/>
          </a:p>
        </p:txBody>
      </p:sp>
      <p:sp>
        <p:nvSpPr>
          <p:cNvPr id="80" name="Google Shape;80;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Primary Dataset: Global Land Surface Temperatures (Berkeley Earth).</a:t>
            </a:r>
            <a:endParaRPr/>
          </a:p>
          <a:p>
            <a:pPr marL="457200" lvl="0" indent="-342900" algn="l" rtl="0">
              <a:spcBef>
                <a:spcPts val="1000"/>
              </a:spcBef>
              <a:spcAft>
                <a:spcPts val="0"/>
              </a:spcAft>
              <a:buSzPts val="1800"/>
              <a:buChar char="●"/>
            </a:pPr>
            <a:r>
              <a:rPr lang="en"/>
              <a:t>Attributes: Country, Year, Avg. Temperature, Uncertainty.</a:t>
            </a:r>
            <a:endParaRPr/>
          </a:p>
          <a:p>
            <a:pPr marL="457200" lvl="0" indent="-342900" algn="l" rtl="0">
              <a:spcBef>
                <a:spcPts val="1000"/>
              </a:spcBef>
              <a:spcAft>
                <a:spcPts val="0"/>
              </a:spcAft>
              <a:buSzPts val="1800"/>
              <a:buChar char="●"/>
            </a:pPr>
            <a:r>
              <a:rPr lang="en"/>
              <a:t>Time Frame: 2000–2015 (aligned with socio-economic data for Project 2).</a:t>
            </a:r>
            <a:endParaRPr/>
          </a:p>
          <a:p>
            <a:pPr marL="457200" lvl="0" indent="-342900" algn="l" rtl="0">
              <a:spcBef>
                <a:spcPts val="1000"/>
              </a:spcBef>
              <a:spcAft>
                <a:spcPts val="0"/>
              </a:spcAft>
              <a:buSzPts val="1800"/>
              <a:buChar char="●"/>
            </a:pPr>
            <a:r>
              <a:rPr lang="en"/>
              <a:t>Size: ~577K records; filtered for manageability.</a:t>
            </a:r>
            <a:endParaRPr/>
          </a:p>
          <a:p>
            <a:pPr marL="0" lvl="0" indent="0" algn="l" rtl="0">
              <a:spcBef>
                <a:spcPts val="1000"/>
              </a:spcBef>
              <a:spcAft>
                <a:spcPts val="0"/>
              </a:spcAft>
              <a:buNone/>
            </a:pPr>
            <a:endParaRPr/>
          </a:p>
          <a:p>
            <a:pPr marL="0" lvl="0" indent="0" algn="l" rtl="0">
              <a:spcBef>
                <a:spcPts val="1000"/>
              </a:spcBef>
              <a:spcAft>
                <a:spcPts val="1000"/>
              </a:spcAft>
              <a:buNone/>
            </a:pPr>
            <a:r>
              <a:rPr lang="en"/>
              <a:t>Dataset URL: </a:t>
            </a:r>
            <a:r>
              <a:rPr lang="en" u="sng">
                <a:solidFill>
                  <a:schemeClr val="hlink"/>
                </a:solidFill>
                <a:hlinkClick r:id="rId3"/>
              </a:rPr>
              <a:t>Link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TASK ABSTRACTION</a:t>
            </a:r>
            <a:endParaRPr/>
          </a:p>
        </p:txBody>
      </p:sp>
      <p:sp>
        <p:nvSpPr>
          <p:cNvPr id="86" name="Google Shape;86;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Target:</a:t>
            </a:r>
            <a:endParaRPr/>
          </a:p>
          <a:p>
            <a:pPr marL="914400" lvl="1" indent="-317500" algn="l" rtl="0">
              <a:spcBef>
                <a:spcPts val="1000"/>
              </a:spcBef>
              <a:spcAft>
                <a:spcPts val="0"/>
              </a:spcAft>
              <a:buSzPts val="1400"/>
              <a:buChar char="○"/>
            </a:pPr>
            <a:r>
              <a:rPr lang="en"/>
              <a:t>Identify spatial/temporal temperature patterns.</a:t>
            </a:r>
            <a:endParaRPr/>
          </a:p>
          <a:p>
            <a:pPr marL="914400" lvl="1" indent="-317500" algn="l" rtl="0">
              <a:spcBef>
                <a:spcPts val="1000"/>
              </a:spcBef>
              <a:spcAft>
                <a:spcPts val="0"/>
              </a:spcAft>
              <a:buSzPts val="1400"/>
              <a:buChar char="○"/>
            </a:pPr>
            <a:r>
              <a:rPr lang="en"/>
              <a:t>Highlight extremes (e.g., coldest states: Taymyr, Sakha).</a:t>
            </a:r>
            <a:endParaRPr/>
          </a:p>
          <a:p>
            <a:pPr marL="457200" lvl="0" indent="-342900" algn="l" rtl="0">
              <a:spcBef>
                <a:spcPts val="1000"/>
              </a:spcBef>
              <a:spcAft>
                <a:spcPts val="0"/>
              </a:spcAft>
              <a:buSzPts val="1800"/>
              <a:buChar char="●"/>
            </a:pPr>
            <a:r>
              <a:rPr lang="en"/>
              <a:t>Actions:</a:t>
            </a:r>
            <a:endParaRPr/>
          </a:p>
          <a:p>
            <a:pPr marL="914400" lvl="1" indent="-317500" algn="l" rtl="0">
              <a:spcBef>
                <a:spcPts val="1000"/>
              </a:spcBef>
              <a:spcAft>
                <a:spcPts val="0"/>
              </a:spcAft>
              <a:buSzPts val="1400"/>
              <a:buChar char="○"/>
            </a:pPr>
            <a:r>
              <a:rPr lang="en"/>
              <a:t>Aggregated data by country/year.</a:t>
            </a:r>
            <a:endParaRPr/>
          </a:p>
          <a:p>
            <a:pPr marL="914400" lvl="1" indent="-317500" algn="l" rtl="0">
              <a:spcBef>
                <a:spcPts val="1000"/>
              </a:spcBef>
              <a:spcAft>
                <a:spcPts val="0"/>
              </a:spcAft>
              <a:buSzPts val="1400"/>
              <a:buChar char="○"/>
            </a:pPr>
            <a:r>
              <a:rPr lang="en"/>
              <a:t>Calculated averages for land/ocean temperatures.</a:t>
            </a:r>
            <a:endParaRPr/>
          </a:p>
          <a:p>
            <a:pPr marL="914400" lvl="1" indent="-317500" algn="l" rtl="0">
              <a:spcBef>
                <a:spcPts val="1000"/>
              </a:spcBef>
              <a:spcAft>
                <a:spcPts val="1000"/>
              </a:spcAft>
              <a:buSzPts val="1400"/>
              <a:buChar char="○"/>
            </a:pPr>
            <a:r>
              <a:rPr lang="en"/>
              <a:t>Sorted and filtered for Top 10 rankings.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Visualisation &amp; Results</a:t>
            </a:r>
            <a:endParaRPr/>
          </a:p>
        </p:txBody>
      </p:sp>
      <p:sp>
        <p:nvSpPr>
          <p:cNvPr id="92" name="Google Shape;92;p19"/>
          <p:cNvSpPr txBox="1">
            <a:spLocks noGrp="1"/>
          </p:cNvSpPr>
          <p:nvPr>
            <p:ph type="body" idx="1"/>
          </p:nvPr>
        </p:nvSpPr>
        <p:spPr>
          <a:xfrm>
            <a:off x="311700" y="1152475"/>
            <a:ext cx="8763000" cy="3990900"/>
          </a:xfrm>
          <a:prstGeom prst="rect">
            <a:avLst/>
          </a:prstGeom>
        </p:spPr>
        <p:txBody>
          <a:bodyPr spcFirstLastPara="1" wrap="square" lIns="91425" tIns="91425" rIns="91425" bIns="91425" anchor="t" anchorCtr="0">
            <a:normAutofit/>
          </a:bodyPr>
          <a:lstStyle/>
          <a:p>
            <a:pPr marL="457200" lvl="0" indent="-293370" algn="l" rtl="0">
              <a:spcBef>
                <a:spcPts val="0"/>
              </a:spcBef>
              <a:spcAft>
                <a:spcPts val="0"/>
              </a:spcAft>
              <a:buSzPct val="100000"/>
              <a:buChar char="●"/>
            </a:pPr>
            <a:r>
              <a:rPr lang="en" sz="1200" dirty="0"/>
              <a:t>Team Member 1 - Srihith:</a:t>
            </a:r>
            <a:endParaRPr sz="1200" dirty="0"/>
          </a:p>
          <a:p>
            <a:pPr marL="914400" lvl="1" indent="-293369" algn="l" rtl="0">
              <a:spcBef>
                <a:spcPts val="0"/>
              </a:spcBef>
              <a:spcAft>
                <a:spcPts val="0"/>
              </a:spcAft>
              <a:buSzPct val="100000"/>
              <a:buChar char="○"/>
            </a:pPr>
            <a:r>
              <a:rPr lang="en" sz="1200" dirty="0"/>
              <a:t>Figure 1: Map View of Avg. Temperatures (Los Angeles → Cape Town).</a:t>
            </a:r>
            <a:endParaRPr sz="1200" dirty="0"/>
          </a:p>
          <a:p>
            <a:pPr marL="1371600" lvl="2" indent="-293369" algn="l" rtl="0">
              <a:spcBef>
                <a:spcPts val="0"/>
              </a:spcBef>
              <a:spcAft>
                <a:spcPts val="0"/>
              </a:spcAft>
              <a:buSzPct val="100000"/>
              <a:buChar char="■"/>
            </a:pPr>
            <a:r>
              <a:rPr lang="en" sz="1200" dirty="0"/>
              <a:t>Insight: Equatorial regions (e.g., Jakarta) are hotter; polar/colder regions (e.g., Berlin) are cooler.</a:t>
            </a:r>
            <a:endParaRPr sz="1200" dirty="0"/>
          </a:p>
          <a:p>
            <a:pPr marL="457200" lvl="0" indent="-293370" algn="l" rtl="0">
              <a:spcBef>
                <a:spcPts val="0"/>
              </a:spcBef>
              <a:spcAft>
                <a:spcPts val="0"/>
              </a:spcAft>
              <a:buSzPct val="100000"/>
              <a:buChar char="●"/>
            </a:pPr>
            <a:r>
              <a:rPr lang="en" sz="1200" dirty="0"/>
              <a:t>Figure 2: Map View of Temperature Uncertainty Across Countries</a:t>
            </a:r>
            <a:endParaRPr sz="1200" dirty="0"/>
          </a:p>
          <a:p>
            <a:pPr marL="1371600" lvl="2" indent="-293369" algn="l" rtl="0">
              <a:spcBef>
                <a:spcPts val="0"/>
              </a:spcBef>
              <a:spcAft>
                <a:spcPts val="0"/>
              </a:spcAft>
              <a:buSzPct val="100000"/>
              <a:buChar char="■"/>
            </a:pPr>
            <a:r>
              <a:rPr lang="en" sz="1200" dirty="0"/>
              <a:t>Insight: Higher temperature uncertainties are observed in northern and central Europe, and parts of Asia, indicating variability in climate models or data collection. Lower uncertainties appear in southern hemisphere regions like Australia and Madagascar, suggesting more stable temperature trends or consistent measurements.</a:t>
            </a: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0"/>
              </a:spcAft>
              <a:buNone/>
            </a:pPr>
            <a:endParaRPr sz="1200" dirty="0"/>
          </a:p>
          <a:p>
            <a:pPr marL="0" lvl="0" indent="0" algn="l" rtl="0">
              <a:spcBef>
                <a:spcPts val="1200"/>
              </a:spcBef>
              <a:spcAft>
                <a:spcPts val="1200"/>
              </a:spcAft>
              <a:buNone/>
            </a:pPr>
            <a:endParaRPr sz="1200" dirty="0"/>
          </a:p>
        </p:txBody>
      </p:sp>
      <p:pic>
        <p:nvPicPr>
          <p:cNvPr id="93" name="Google Shape;93;p19" title="Screenshot 2025-04-10 at 1.00.45 AM.png"/>
          <p:cNvPicPr preferRelativeResize="0"/>
          <p:nvPr/>
        </p:nvPicPr>
        <p:blipFill>
          <a:blip r:embed="rId3">
            <a:alphaModFix/>
          </a:blip>
          <a:stretch>
            <a:fillRect/>
          </a:stretch>
        </p:blipFill>
        <p:spPr>
          <a:xfrm>
            <a:off x="435150" y="2516250"/>
            <a:ext cx="4090752" cy="2190599"/>
          </a:xfrm>
          <a:prstGeom prst="rect">
            <a:avLst/>
          </a:prstGeom>
          <a:noFill/>
          <a:ln>
            <a:noFill/>
          </a:ln>
        </p:spPr>
      </p:pic>
      <p:pic>
        <p:nvPicPr>
          <p:cNvPr id="94" name="Google Shape;94;p19" title="Screenshot 2025-04-10 at 1.01.50 AM.png"/>
          <p:cNvPicPr preferRelativeResize="0"/>
          <p:nvPr/>
        </p:nvPicPr>
        <p:blipFill>
          <a:blip r:embed="rId4">
            <a:alphaModFix/>
          </a:blip>
          <a:stretch>
            <a:fillRect/>
          </a:stretch>
        </p:blipFill>
        <p:spPr>
          <a:xfrm>
            <a:off x="4670925" y="2525075"/>
            <a:ext cx="4090751" cy="21729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and Key Findings</a:t>
            </a:r>
            <a:endParaRPr/>
          </a:p>
        </p:txBody>
      </p:sp>
      <p:sp>
        <p:nvSpPr>
          <p:cNvPr id="100" name="Google Shape;100;p20"/>
          <p:cNvSpPr txBox="1">
            <a:spLocks noGrp="1"/>
          </p:cNvSpPr>
          <p:nvPr>
            <p:ph type="body" idx="1"/>
          </p:nvPr>
        </p:nvSpPr>
        <p:spPr>
          <a:xfrm>
            <a:off x="311700" y="1152475"/>
            <a:ext cx="8763000" cy="3990900"/>
          </a:xfrm>
          <a:prstGeom prst="rect">
            <a:avLst/>
          </a:prstGeom>
        </p:spPr>
        <p:txBody>
          <a:bodyPr spcFirstLastPara="1" wrap="square" lIns="91425" tIns="91425" rIns="91425" bIns="91425" anchor="t" anchorCtr="0">
            <a:normAutofit/>
          </a:bodyPr>
          <a:lstStyle/>
          <a:p>
            <a:pPr marL="457200" lvl="0" indent="-285750" algn="l" rtl="0">
              <a:spcBef>
                <a:spcPts val="0"/>
              </a:spcBef>
              <a:spcAft>
                <a:spcPts val="0"/>
              </a:spcAft>
              <a:buSzPts val="900"/>
              <a:buChar char="●"/>
            </a:pPr>
            <a:r>
              <a:rPr lang="en" sz="900"/>
              <a:t>Team Member 2 - Sriram:</a:t>
            </a:r>
            <a:endParaRPr sz="900"/>
          </a:p>
          <a:p>
            <a:pPr marL="914400" lvl="1" indent="-285750" algn="l" rtl="0">
              <a:spcBef>
                <a:spcPts val="0"/>
              </a:spcBef>
              <a:spcAft>
                <a:spcPts val="0"/>
              </a:spcAft>
              <a:buSzPts val="900"/>
              <a:buChar char="○"/>
            </a:pPr>
            <a:r>
              <a:rPr lang="en" sz="900"/>
              <a:t>Figure 3: Top 10 Least Temperature States (e.g., Taymyr at -13.669°C).</a:t>
            </a:r>
            <a:endParaRPr sz="900"/>
          </a:p>
          <a:p>
            <a:pPr marL="1371600" lvl="2" indent="-285750" algn="l" rtl="0">
              <a:spcBef>
                <a:spcPts val="0"/>
              </a:spcBef>
              <a:spcAft>
                <a:spcPts val="0"/>
              </a:spcAft>
              <a:buSzPts val="900"/>
              <a:buChar char="■"/>
            </a:pPr>
            <a:r>
              <a:rPr lang="en" sz="900"/>
              <a:t>Insight: Russia/Canada dominate coldest regions.</a:t>
            </a:r>
            <a:endParaRPr sz="900"/>
          </a:p>
          <a:p>
            <a:pPr marL="914400" lvl="1" indent="-285750" algn="l" rtl="0">
              <a:spcBef>
                <a:spcPts val="0"/>
              </a:spcBef>
              <a:spcAft>
                <a:spcPts val="0"/>
              </a:spcAft>
              <a:buSzPts val="900"/>
              <a:buChar char="○"/>
            </a:pPr>
            <a:r>
              <a:rPr lang="en" sz="900"/>
              <a:t>Figure 4: Ocean vs. Land Temp (2000–2015).</a:t>
            </a:r>
            <a:endParaRPr sz="900"/>
          </a:p>
          <a:p>
            <a:pPr marL="1371600" lvl="2" indent="-285750" algn="l" rtl="0">
              <a:spcBef>
                <a:spcPts val="0"/>
              </a:spcBef>
              <a:spcAft>
                <a:spcPts val="0"/>
              </a:spcAft>
              <a:buSzPts val="900"/>
              <a:buChar char="■"/>
            </a:pPr>
            <a:r>
              <a:rPr lang="en" sz="900"/>
              <a:t>Insight: Land temps rise faster than ocean temps.</a:t>
            </a:r>
            <a:endParaRPr sz="900"/>
          </a:p>
        </p:txBody>
      </p:sp>
      <p:pic>
        <p:nvPicPr>
          <p:cNvPr id="101" name="Google Shape;101;p20" title="Screenshot 2025-04-10 at 1.01.21 AM.png"/>
          <p:cNvPicPr preferRelativeResize="0"/>
          <p:nvPr/>
        </p:nvPicPr>
        <p:blipFill>
          <a:blip r:embed="rId3">
            <a:alphaModFix/>
          </a:blip>
          <a:stretch>
            <a:fillRect/>
          </a:stretch>
        </p:blipFill>
        <p:spPr>
          <a:xfrm>
            <a:off x="430100" y="2226175"/>
            <a:ext cx="3992327" cy="2110649"/>
          </a:xfrm>
          <a:prstGeom prst="rect">
            <a:avLst/>
          </a:prstGeom>
          <a:noFill/>
          <a:ln>
            <a:noFill/>
          </a:ln>
        </p:spPr>
      </p:pic>
      <p:pic>
        <p:nvPicPr>
          <p:cNvPr id="102" name="Google Shape;102;p20" title="Screenshot 2025-04-10 at 1.02.19 AM.png"/>
          <p:cNvPicPr preferRelativeResize="0"/>
          <p:nvPr/>
        </p:nvPicPr>
        <p:blipFill>
          <a:blip r:embed="rId4">
            <a:alphaModFix/>
          </a:blip>
          <a:stretch>
            <a:fillRect/>
          </a:stretch>
        </p:blipFill>
        <p:spPr>
          <a:xfrm>
            <a:off x="4685025" y="2143275"/>
            <a:ext cx="3992324" cy="21115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and Key Findings</a:t>
            </a:r>
            <a:endParaRPr/>
          </a:p>
        </p:txBody>
      </p:sp>
      <p:sp>
        <p:nvSpPr>
          <p:cNvPr id="108" name="Google Shape;108;p21"/>
          <p:cNvSpPr txBox="1">
            <a:spLocks noGrp="1"/>
          </p:cNvSpPr>
          <p:nvPr>
            <p:ph type="body" idx="1"/>
          </p:nvPr>
        </p:nvSpPr>
        <p:spPr>
          <a:xfrm>
            <a:off x="311700" y="1152475"/>
            <a:ext cx="8763000" cy="3990900"/>
          </a:xfrm>
          <a:prstGeom prst="rect">
            <a:avLst/>
          </a:prstGeom>
        </p:spPr>
        <p:txBody>
          <a:bodyPr spcFirstLastPara="1" wrap="square" lIns="91425" tIns="91425" rIns="91425" bIns="91425" anchor="t" anchorCtr="0">
            <a:normAutofit/>
          </a:bodyPr>
          <a:lstStyle/>
          <a:p>
            <a:pPr marL="457200" lvl="0" indent="-298450" algn="l" rtl="0">
              <a:spcBef>
                <a:spcPts val="0"/>
              </a:spcBef>
              <a:spcAft>
                <a:spcPts val="0"/>
              </a:spcAft>
              <a:buSzPts val="1100"/>
              <a:buChar char="●"/>
            </a:pPr>
            <a:r>
              <a:rPr lang="en" sz="1100"/>
              <a:t>Team Member 3 (Durga):</a:t>
            </a:r>
            <a:endParaRPr sz="1100"/>
          </a:p>
          <a:p>
            <a:pPr marL="914400" lvl="1" indent="-298450" algn="l" rtl="0">
              <a:spcBef>
                <a:spcPts val="0"/>
              </a:spcBef>
              <a:spcAft>
                <a:spcPts val="0"/>
              </a:spcAft>
              <a:buSzPts val="1100"/>
              <a:buChar char="○"/>
            </a:pPr>
            <a:r>
              <a:rPr lang="en" sz="1100"/>
              <a:t>Figure 5: Top 5 Hottest Countries (Aruba, Burkina Faso, Mali).</a:t>
            </a:r>
            <a:endParaRPr sz="1100"/>
          </a:p>
          <a:p>
            <a:pPr marL="1371600" lvl="2" indent="-298450" algn="l" rtl="0">
              <a:spcBef>
                <a:spcPts val="0"/>
              </a:spcBef>
              <a:spcAft>
                <a:spcPts val="0"/>
              </a:spcAft>
              <a:buSzPts val="1100"/>
              <a:buChar char="■"/>
            </a:pPr>
            <a:r>
              <a:rPr lang="en" sz="1100"/>
              <a:t>Insight: African nations and small islands have highest avg. temps.</a:t>
            </a:r>
            <a:endParaRPr sz="1100"/>
          </a:p>
          <a:p>
            <a:pPr marL="914400" lvl="1" indent="-298450" algn="l" rtl="0">
              <a:spcBef>
                <a:spcPts val="0"/>
              </a:spcBef>
              <a:spcAft>
                <a:spcPts val="0"/>
              </a:spcAft>
              <a:buSzPts val="1100"/>
              <a:buChar char="○"/>
            </a:pPr>
            <a:r>
              <a:rPr lang="en" sz="1100"/>
              <a:t>Figure 6 : Top Years by LandMax Temp (2002, 2005, 2015).</a:t>
            </a:r>
            <a:endParaRPr sz="1100"/>
          </a:p>
          <a:p>
            <a:pPr marL="1371600" lvl="2" indent="-298450" algn="l" rtl="0">
              <a:spcBef>
                <a:spcPts val="0"/>
              </a:spcBef>
              <a:spcAft>
                <a:spcPts val="0"/>
              </a:spcAft>
              <a:buSzPts val="1100"/>
              <a:buChar char="■"/>
            </a:pPr>
            <a:r>
              <a:rPr lang="en" sz="1100"/>
              <a:t>Insight: Recent years show increasing peaks.</a:t>
            </a:r>
            <a:endParaRPr sz="1100"/>
          </a:p>
        </p:txBody>
      </p:sp>
      <p:pic>
        <p:nvPicPr>
          <p:cNvPr id="109" name="Google Shape;109;p21" title="Screenshot 2025-04-10 at 12.59.18 AM.png"/>
          <p:cNvPicPr preferRelativeResize="0"/>
          <p:nvPr/>
        </p:nvPicPr>
        <p:blipFill rotWithShape="1">
          <a:blip r:embed="rId3">
            <a:alphaModFix/>
          </a:blip>
          <a:srcRect r="53401"/>
          <a:stretch/>
        </p:blipFill>
        <p:spPr>
          <a:xfrm>
            <a:off x="4278500" y="2299750"/>
            <a:ext cx="2204526" cy="2612476"/>
          </a:xfrm>
          <a:prstGeom prst="rect">
            <a:avLst/>
          </a:prstGeom>
          <a:noFill/>
          <a:ln>
            <a:noFill/>
          </a:ln>
        </p:spPr>
      </p:pic>
      <p:pic>
        <p:nvPicPr>
          <p:cNvPr id="110" name="Google Shape;110;p21" title="Screenshot 2025-04-10 at 12.59.39 AM.png"/>
          <p:cNvPicPr preferRelativeResize="0"/>
          <p:nvPr/>
        </p:nvPicPr>
        <p:blipFill>
          <a:blip r:embed="rId4">
            <a:alphaModFix/>
          </a:blip>
          <a:stretch>
            <a:fillRect/>
          </a:stretch>
        </p:blipFill>
        <p:spPr>
          <a:xfrm>
            <a:off x="1719675" y="2327500"/>
            <a:ext cx="2060950" cy="2556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Analysis &amp; Work Management</a:t>
            </a:r>
            <a:endParaRPr/>
          </a:p>
        </p:txBody>
      </p:sp>
      <p:sp>
        <p:nvSpPr>
          <p:cNvPr id="116" name="Google Shape;116;p22"/>
          <p:cNvSpPr txBox="1">
            <a:spLocks noGrp="1"/>
          </p:cNvSpPr>
          <p:nvPr>
            <p:ph type="body" idx="1"/>
          </p:nvPr>
        </p:nvSpPr>
        <p:spPr>
          <a:xfrm>
            <a:off x="311700" y="1152475"/>
            <a:ext cx="8265600" cy="3768900"/>
          </a:xfrm>
          <a:prstGeom prst="rect">
            <a:avLst/>
          </a:prstGeom>
        </p:spPr>
        <p:txBody>
          <a:bodyPr spcFirstLastPara="1" wrap="square" lIns="91425" tIns="91425" rIns="91425" bIns="91425" anchor="t" anchorCtr="0">
            <a:normAutofit fontScale="92500" lnSpcReduction="10000"/>
          </a:bodyPr>
          <a:lstStyle/>
          <a:p>
            <a:pPr marL="457200" lvl="0" indent="-298450" algn="l" rtl="0">
              <a:spcBef>
                <a:spcPts val="0"/>
              </a:spcBef>
              <a:spcAft>
                <a:spcPts val="0"/>
              </a:spcAft>
              <a:buSzPts val="1100"/>
              <a:buChar char="●"/>
            </a:pPr>
            <a:r>
              <a:rPr lang="en" sz="1100" b="1" dirty="0"/>
              <a:t>Key Findings:</a:t>
            </a:r>
            <a:endParaRPr sz="1100" b="1" dirty="0"/>
          </a:p>
          <a:p>
            <a:pPr marL="914400" lvl="1" indent="-298450" algn="l" rtl="0">
              <a:spcBef>
                <a:spcPts val="1000"/>
              </a:spcBef>
              <a:spcAft>
                <a:spcPts val="0"/>
              </a:spcAft>
              <a:buSzPts val="1100"/>
              <a:buChar char="○"/>
            </a:pPr>
            <a:r>
              <a:rPr lang="en" sz="1100" dirty="0"/>
              <a:t>Polar Amplification: Arctic states (Russia/Canada) are warming rapidly.</a:t>
            </a:r>
            <a:endParaRPr sz="1100" dirty="0"/>
          </a:p>
          <a:p>
            <a:pPr marL="914400" lvl="1" indent="-298450" algn="l" rtl="0">
              <a:spcBef>
                <a:spcPts val="1000"/>
              </a:spcBef>
              <a:spcAft>
                <a:spcPts val="0"/>
              </a:spcAft>
              <a:buSzPts val="1100"/>
              <a:buChar char="○"/>
            </a:pPr>
            <a:r>
              <a:rPr lang="en" sz="1100" dirty="0"/>
              <a:t>Urban Heat Islands: Cities like Mexico City show higher temps.</a:t>
            </a:r>
            <a:endParaRPr sz="1100" dirty="0"/>
          </a:p>
          <a:p>
            <a:pPr marL="914400" lvl="1" indent="-298450" algn="l" rtl="0">
              <a:spcBef>
                <a:spcPts val="1000"/>
              </a:spcBef>
              <a:spcAft>
                <a:spcPts val="0"/>
              </a:spcAft>
              <a:buSzPts val="1100"/>
              <a:buChar char="○"/>
            </a:pPr>
            <a:r>
              <a:rPr lang="en" sz="1100" dirty="0"/>
              <a:t>Ocean Buffering: Ocean temps rise slower than land (heat capacity).</a:t>
            </a:r>
            <a:endParaRPr sz="1100" dirty="0"/>
          </a:p>
          <a:p>
            <a:pPr marL="457200" lvl="0" indent="-298450" algn="l" rtl="0">
              <a:spcBef>
                <a:spcPts val="1000"/>
              </a:spcBef>
              <a:spcAft>
                <a:spcPts val="0"/>
              </a:spcAft>
              <a:buSzPts val="1100"/>
              <a:buChar char="●"/>
            </a:pPr>
            <a:r>
              <a:rPr lang="en" sz="1100" b="1" dirty="0"/>
              <a:t>Limitations</a:t>
            </a:r>
            <a:r>
              <a:rPr lang="en" sz="1100" dirty="0"/>
              <a:t>: Missing socio-economic data (addressed in Project 2).</a:t>
            </a:r>
            <a:endParaRPr sz="1100" dirty="0"/>
          </a:p>
          <a:p>
            <a:pPr marL="457200" lvl="0" indent="-298450" algn="l" rtl="0">
              <a:spcBef>
                <a:spcPts val="1000"/>
              </a:spcBef>
              <a:spcAft>
                <a:spcPts val="0"/>
              </a:spcAft>
              <a:buSzPts val="1100"/>
              <a:buChar char="●"/>
            </a:pPr>
            <a:r>
              <a:rPr lang="en" sz="1100" b="1" dirty="0"/>
              <a:t>Contributions:</a:t>
            </a:r>
            <a:endParaRPr sz="1100" b="1" dirty="0"/>
          </a:p>
          <a:p>
            <a:pPr marL="914400" lvl="1" indent="-298450" algn="l" rtl="0">
              <a:spcBef>
                <a:spcPts val="1000"/>
              </a:spcBef>
              <a:spcAft>
                <a:spcPts val="0"/>
              </a:spcAft>
              <a:buSzPts val="1100"/>
              <a:buChar char="○"/>
            </a:pPr>
            <a:r>
              <a:rPr lang="en" sz="1100" dirty="0"/>
              <a:t>Srihith: 33% (Data cleaning, map visualization).</a:t>
            </a:r>
            <a:endParaRPr sz="1100" dirty="0"/>
          </a:p>
          <a:p>
            <a:pPr marL="914400" lvl="1" indent="-298450" algn="l" rtl="0">
              <a:spcBef>
                <a:spcPts val="1000"/>
              </a:spcBef>
              <a:spcAft>
                <a:spcPts val="0"/>
              </a:spcAft>
              <a:buSzPts val="1100"/>
              <a:buChar char="○"/>
            </a:pPr>
            <a:r>
              <a:rPr lang="en" sz="1100" dirty="0"/>
              <a:t>Sriram: 33% (Correlation tests, time-series analysis).</a:t>
            </a:r>
            <a:endParaRPr sz="1100" dirty="0"/>
          </a:p>
          <a:p>
            <a:pPr marL="914400" lvl="1" indent="-298450" algn="l" rtl="0">
              <a:spcBef>
                <a:spcPts val="1000"/>
              </a:spcBef>
              <a:spcAft>
                <a:spcPts val="0"/>
              </a:spcAft>
              <a:buSzPts val="1100"/>
              <a:buChar char="○"/>
            </a:pPr>
            <a:r>
              <a:rPr lang="en" sz="1100" dirty="0"/>
              <a:t>Durga: 33% (Top 10 rankings, PPT design).</a:t>
            </a:r>
            <a:endParaRPr sz="1100" dirty="0"/>
          </a:p>
          <a:p>
            <a:pPr marL="457200" lvl="0" indent="-298450" algn="l" rtl="0">
              <a:spcBef>
                <a:spcPts val="1000"/>
              </a:spcBef>
              <a:spcAft>
                <a:spcPts val="0"/>
              </a:spcAft>
              <a:buSzPts val="1100"/>
              <a:buChar char="●"/>
            </a:pPr>
            <a:r>
              <a:rPr lang="en" sz="1100" b="1" dirty="0"/>
              <a:t>Challenges:</a:t>
            </a:r>
            <a:endParaRPr sz="1100" b="1" dirty="0"/>
          </a:p>
          <a:p>
            <a:pPr marL="914400" lvl="1" indent="-298450" algn="l" rtl="0">
              <a:spcBef>
                <a:spcPts val="1000"/>
              </a:spcBef>
              <a:spcAft>
                <a:spcPts val="0"/>
              </a:spcAft>
              <a:buSzPts val="1100"/>
              <a:buChar char="○"/>
            </a:pPr>
            <a:r>
              <a:rPr lang="en" sz="1100" dirty="0"/>
              <a:t>Data gaps in older years (pre-2000).</a:t>
            </a:r>
            <a:endParaRPr sz="1100" dirty="0"/>
          </a:p>
          <a:p>
            <a:pPr marL="914400" lvl="1" indent="-298450" algn="l" rtl="0">
              <a:spcBef>
                <a:spcPts val="1000"/>
              </a:spcBef>
              <a:spcAft>
                <a:spcPts val="1000"/>
              </a:spcAft>
              <a:buSzPts val="1100"/>
              <a:buChar char="○"/>
            </a:pPr>
            <a:r>
              <a:rPr lang="en" sz="1100" dirty="0"/>
              <a:t>Tableau formatting for large datasets.</a:t>
            </a:r>
            <a:endParaRP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Next Steps</a:t>
            </a:r>
            <a:endParaRPr/>
          </a:p>
        </p:txBody>
      </p:sp>
      <p:sp>
        <p:nvSpPr>
          <p:cNvPr id="122" name="Google Shape;122;p23"/>
          <p:cNvSpPr txBox="1">
            <a:spLocks noGrp="1"/>
          </p:cNvSpPr>
          <p:nvPr>
            <p:ph type="body" idx="1"/>
          </p:nvPr>
        </p:nvSpPr>
        <p:spPr>
          <a:xfrm>
            <a:off x="311700" y="1152475"/>
            <a:ext cx="8832300" cy="3835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Interactive Dashboard:</a:t>
            </a:r>
            <a:endParaRPr/>
          </a:p>
          <a:p>
            <a:pPr marL="914400" lvl="1" indent="-317500" algn="l" rtl="0">
              <a:spcBef>
                <a:spcPts val="1000"/>
              </a:spcBef>
              <a:spcAft>
                <a:spcPts val="0"/>
              </a:spcAft>
              <a:buSzPts val="1400"/>
              <a:buChar char="○"/>
            </a:pPr>
            <a:r>
              <a:rPr lang="en"/>
              <a:t>Use Python (Plotly/Dash) to integrate CO₂ emissions/GDP data.</a:t>
            </a:r>
            <a:endParaRPr/>
          </a:p>
          <a:p>
            <a:pPr marL="914400" lvl="1" indent="-317500" algn="l" rtl="0">
              <a:spcBef>
                <a:spcPts val="1000"/>
              </a:spcBef>
              <a:spcAft>
                <a:spcPts val="0"/>
              </a:spcAft>
              <a:buSzPts val="1400"/>
              <a:buChar char="○"/>
            </a:pPr>
            <a:r>
              <a:rPr lang="en"/>
              <a:t>Add filters (country/year) and tooltips.</a:t>
            </a:r>
            <a:endParaRPr/>
          </a:p>
          <a:p>
            <a:pPr marL="457200" lvl="0" indent="-342900" algn="l" rtl="0">
              <a:spcBef>
                <a:spcPts val="1000"/>
              </a:spcBef>
              <a:spcAft>
                <a:spcPts val="0"/>
              </a:spcAft>
              <a:buSzPts val="1800"/>
              <a:buChar char="●"/>
            </a:pPr>
            <a:r>
              <a:rPr lang="en"/>
              <a:t>Advanced Stats:</a:t>
            </a:r>
            <a:endParaRPr/>
          </a:p>
          <a:p>
            <a:pPr marL="914400" lvl="1" indent="-317500" algn="l" rtl="0">
              <a:spcBef>
                <a:spcPts val="1000"/>
              </a:spcBef>
              <a:spcAft>
                <a:spcPts val="0"/>
              </a:spcAft>
              <a:buSzPts val="1400"/>
              <a:buChar char="○"/>
            </a:pPr>
            <a:r>
              <a:rPr lang="en"/>
              <a:t>Regression models (temperature vs. emissions).</a:t>
            </a:r>
            <a:endParaRPr/>
          </a:p>
          <a:p>
            <a:pPr marL="457200" lvl="0" indent="-342900" algn="l" rtl="0">
              <a:spcBef>
                <a:spcPts val="1000"/>
              </a:spcBef>
              <a:spcAft>
                <a:spcPts val="0"/>
              </a:spcAft>
              <a:buSzPts val="1800"/>
              <a:buChar char="●"/>
            </a:pPr>
            <a:r>
              <a:rPr lang="en"/>
              <a:t>Web Integration:</a:t>
            </a:r>
            <a:endParaRPr/>
          </a:p>
          <a:p>
            <a:pPr marL="914400" lvl="1" indent="-317500" algn="l" rtl="0">
              <a:spcBef>
                <a:spcPts val="1000"/>
              </a:spcBef>
              <a:spcAft>
                <a:spcPts val="1000"/>
              </a:spcAft>
              <a:buSzPts val="1400"/>
              <a:buChar char="○"/>
            </a:pPr>
            <a:r>
              <a:rPr lang="en"/>
              <a:t>Embed Tableau/Python dashboards into HTML/CSS.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txBox="1">
            <a:spLocks noGrp="1"/>
          </p:cNvSpPr>
          <p:nvPr>
            <p:ph type="title"/>
          </p:nvPr>
        </p:nvSpPr>
        <p:spPr>
          <a:xfrm>
            <a:off x="490250" y="450150"/>
            <a:ext cx="8284200" cy="4090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847</Words>
  <Application>Microsoft Office PowerPoint</Application>
  <PresentationFormat>On-screen Show (16:9)</PresentationFormat>
  <Paragraphs>99</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Simple Light</vt:lpstr>
      <vt:lpstr>Understanding Global Climate Change: Exploring Socio-Economic Factors and Environmental Effects</vt:lpstr>
      <vt:lpstr>Introduction</vt:lpstr>
      <vt:lpstr>Problem Statement</vt:lpstr>
      <vt:lpstr>Methodology</vt:lpstr>
      <vt:lpstr>Data Abstraction</vt:lpstr>
      <vt:lpstr>TASK ABSTRACTION</vt:lpstr>
      <vt:lpstr>Visualisation &amp; Results</vt:lpstr>
      <vt:lpstr>Results and Key Findings</vt:lpstr>
      <vt:lpstr>Results and Key Findings</vt:lpstr>
      <vt:lpstr>Analysis &amp; Work Management</vt:lpstr>
      <vt:lpstr>Next Steps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Sriram Chowdary Vundavalli</cp:lastModifiedBy>
  <cp:revision>1</cp:revision>
  <dcterms:modified xsi:type="dcterms:W3CDTF">2025-04-28T03:20:05Z</dcterms:modified>
</cp:coreProperties>
</file>